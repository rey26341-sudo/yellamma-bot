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 PLATFORM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7472" y="5486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YELLAMMA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697480" cy="292608"/>
          </a:xfrm>
          <a:prstGeom prst="roundRect">
            <a:avLst>
              <a:gd name="adj" fmla="val 50000"/>
            </a:avLst>
          </a:prstGeom>
          <a:ln w="15875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VERIFIED END-TO-END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backend, many businesses. A LangGraph-powered engine that answers enquiries, quotes services, and books appointments — then writes them straight to Postgres.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3246120" cy="0"/>
          </a:xfrm>
          <a:prstGeom prst="line">
            <a:avLst/>
          </a:prstGeom>
          <a:noFill/>
          <a:ln w="15875">
            <a:solidFill>
              <a:srgbClr val="1C5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72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4015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3401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1246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7124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023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33425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4334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(async)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4645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Cloudflare Tunnel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065776"/>
            <a:ext cx="3246120" cy="0"/>
          </a:xfrm>
          <a:prstGeom prst="line">
            <a:avLst/>
          </a:prstGeom>
          <a:noFill/>
          <a:ln w="15875">
            <a:solidFill>
              <a:srgbClr val="1C5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54864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7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· TLS-required Postgres · connection pooling · statement timeouts · no DB-URL logging · no silent SQLite fallback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455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github.com/rey26341-sudo/yellamma-bot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79392" y="292608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message becomes a booking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395978" y="777240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0F3D3E"/>
          </a:solidFill>
          <a:ln/>
        </p:spPr>
      </p:sp>
      <p:sp>
        <p:nvSpPr>
          <p:cNvPr id="26" name="Text 24"/>
          <p:cNvSpPr/>
          <p:nvPr/>
        </p:nvSpPr>
        <p:spPr>
          <a:xfrm>
            <a:off x="4441698" y="85953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Widget /</a:t>
            </a:r>
            <a:endParaRPr lang="en-US" sz="9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41698" y="12710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511546" y="777240"/>
            <a:ext cx="1417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34990" y="777240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0F3D3E"/>
          </a:solidFill>
          <a:ln/>
        </p:spPr>
      </p:sp>
      <p:sp>
        <p:nvSpPr>
          <p:cNvPr id="30" name="Text 28"/>
          <p:cNvSpPr/>
          <p:nvPr/>
        </p:nvSpPr>
        <p:spPr>
          <a:xfrm>
            <a:off x="5680710" y="85953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80710" y="12710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750558" y="777240"/>
            <a:ext cx="1417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74002" y="777240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0F3D3E"/>
          </a:solidFill>
          <a:ln/>
        </p:spPr>
      </p:sp>
      <p:sp>
        <p:nvSpPr>
          <p:cNvPr id="34" name="Text 32"/>
          <p:cNvSpPr/>
          <p:nvPr/>
        </p:nvSpPr>
        <p:spPr>
          <a:xfrm>
            <a:off x="6919722" y="85953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Loader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19722" y="12710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business_id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89570" y="777240"/>
            <a:ext cx="1417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13014" y="777240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C1440E"/>
          </a:solidFill>
          <a:ln/>
        </p:spPr>
      </p:sp>
      <p:sp>
        <p:nvSpPr>
          <p:cNvPr id="38" name="Text 36"/>
          <p:cNvSpPr/>
          <p:nvPr/>
        </p:nvSpPr>
        <p:spPr>
          <a:xfrm>
            <a:off x="8158734" y="85953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58734" y="12710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228582" y="777240"/>
            <a:ext cx="1417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352026" y="777240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0F3D3E"/>
          </a:solidFill>
          <a:ln/>
        </p:spPr>
      </p:sp>
      <p:sp>
        <p:nvSpPr>
          <p:cNvPr id="42" name="Text 40"/>
          <p:cNvSpPr/>
          <p:nvPr/>
        </p:nvSpPr>
        <p:spPr>
          <a:xfrm>
            <a:off x="9397746" y="85953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397746" y="12710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gen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467594" y="777240"/>
            <a:ext cx="1417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591038" y="777240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0F3D3E"/>
          </a:solidFill>
          <a:ln/>
        </p:spPr>
      </p:sp>
      <p:sp>
        <p:nvSpPr>
          <p:cNvPr id="46" name="Text 44"/>
          <p:cNvSpPr/>
          <p:nvPr/>
        </p:nvSpPr>
        <p:spPr>
          <a:xfrm>
            <a:off x="10636758" y="859536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Service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636758" y="1271016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79392" y="1737360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booking flow, one stop at a time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4453128" y="2350008"/>
            <a:ext cx="7196328" cy="0"/>
          </a:xfrm>
          <a:prstGeom prst="line">
            <a:avLst/>
          </a:prstGeom>
          <a:noFill/>
          <a:ln w="19050">
            <a:solidFill>
              <a:srgbClr val="14201F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279392" y="2176272"/>
            <a:ext cx="347472" cy="347472"/>
          </a:xfrm>
          <a:prstGeom prst="ellipse">
            <a:avLst/>
          </a:prstGeom>
          <a:solidFill>
            <a:srgbClr val="FBF3E6"/>
          </a:solidFill>
          <a:ln w="28575">
            <a:solidFill>
              <a:srgbClr val="0F3D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9392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005072" y="2578608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18658" y="2176272"/>
            <a:ext cx="347472" cy="347472"/>
          </a:xfrm>
          <a:prstGeom prst="ellipse">
            <a:avLst/>
          </a:prstGeom>
          <a:solidFill>
            <a:srgbClr val="FBF3E6"/>
          </a:solidFill>
          <a:ln w="28575">
            <a:solidFill>
              <a:srgbClr val="0F3D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8658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44338" y="2578608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157923" y="2176272"/>
            <a:ext cx="347472" cy="347472"/>
          </a:xfrm>
          <a:prstGeom prst="ellipse">
            <a:avLst/>
          </a:prstGeom>
          <a:solidFill>
            <a:srgbClr val="FBF3E6"/>
          </a:solidFill>
          <a:ln w="28575">
            <a:solidFill>
              <a:srgbClr val="0F3D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7923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83603" y="2578608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97189" y="2176272"/>
            <a:ext cx="347472" cy="347472"/>
          </a:xfrm>
          <a:prstGeom prst="ellipse">
            <a:avLst/>
          </a:prstGeom>
          <a:solidFill>
            <a:srgbClr val="FBF3E6"/>
          </a:solidFill>
          <a:ln w="28575">
            <a:solidFill>
              <a:srgbClr val="0F3D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7189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322869" y="2578608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036454" y="2176272"/>
            <a:ext cx="347472" cy="347472"/>
          </a:xfrm>
          <a:prstGeom prst="ellipse">
            <a:avLst/>
          </a:prstGeom>
          <a:solidFill>
            <a:srgbClr val="FBF3E6"/>
          </a:solidFill>
          <a:ln w="28575">
            <a:solidFill>
              <a:srgbClr val="0F3D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36454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762134" y="2578608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1475720" y="2176272"/>
            <a:ext cx="347472" cy="347472"/>
          </a:xfrm>
          <a:prstGeom prst="ellipse">
            <a:avLst/>
          </a:prstGeom>
          <a:solidFill>
            <a:srgbClr val="C1440E"/>
          </a:solidFill>
          <a:ln w="28575">
            <a:solidFill>
              <a:srgbClr val="C1440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7572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201400" y="2578608"/>
            <a:ext cx="896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279392" y="2798064"/>
            <a:ext cx="7543800" cy="329184"/>
          </a:xfrm>
          <a:prstGeom prst="roundRect">
            <a:avLst>
              <a:gd name="adj" fmla="val 16667"/>
            </a:avLst>
          </a:prstGeom>
          <a:solidFill>
            <a:srgbClr val="14201F"/>
          </a:solidFill>
          <a:ln/>
        </p:spPr>
      </p:sp>
      <p:sp>
        <p:nvSpPr>
          <p:cNvPr id="69" name="Text 67"/>
          <p:cNvSpPr/>
          <p:nvPr/>
        </p:nvSpPr>
        <p:spPr>
          <a:xfrm>
            <a:off x="4416552" y="2798064"/>
            <a:ext cx="7269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end-to-end — Appointment #8 · Renganayaki · 9876543210 · next Monday, 2 PM — written to PostgreSQL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279392" y="323697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working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279392" y="3529584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8C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389120" y="3639312"/>
            <a:ext cx="274320" cy="2743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73" name="Text 71"/>
          <p:cNvSpPr/>
          <p:nvPr/>
        </p:nvSpPr>
        <p:spPr>
          <a:xfrm>
            <a:off x="438912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82312" y="3611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conversation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389120" y="395020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 tracks the flow — nothing collected early is lost.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839712" y="3529584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8C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949440" y="3639312"/>
            <a:ext cx="274320" cy="2743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78" name="Text 76"/>
          <p:cNvSpPr/>
          <p:nvPr/>
        </p:nvSpPr>
        <p:spPr>
          <a:xfrm>
            <a:off x="694944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342632" y="3611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Multi-business by design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6949440" y="395020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API, many tenants — swapped via a single business_id.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400032" y="3529584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8C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509760" y="3639312"/>
            <a:ext cx="274320" cy="2743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83" name="Text 81"/>
          <p:cNvSpPr/>
          <p:nvPr/>
        </p:nvSpPr>
        <p:spPr>
          <a:xfrm>
            <a:off x="9509760" y="3639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902952" y="3611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FAQ answers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9509760" y="395020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replies pulled from each business's own config.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279392" y="4352544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8C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4389120" y="4462272"/>
            <a:ext cx="274320" cy="2743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88" name="Text 86"/>
          <p:cNvSpPr/>
          <p:nvPr/>
        </p:nvSpPr>
        <p:spPr>
          <a:xfrm>
            <a:off x="438912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782312" y="4434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persistence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4389120" y="477316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write to Postgres with business_id + service.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839712" y="4352544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8C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6949440" y="4462272"/>
            <a:ext cx="274320" cy="2743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93" name="Text 91"/>
          <p:cNvSpPr/>
          <p:nvPr/>
        </p:nvSpPr>
        <p:spPr>
          <a:xfrm>
            <a:off x="694944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342632" y="4434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REST API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6949440" y="477316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integrates anywhere, plus auto Swagger docs.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400032" y="4352544"/>
            <a:ext cx="2423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D8C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2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509760" y="4462272"/>
            <a:ext cx="274320" cy="2743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98" name="Text 96"/>
          <p:cNvSpPr/>
          <p:nvPr/>
        </p:nvSpPr>
        <p:spPr>
          <a:xfrm>
            <a:off x="9509760" y="4462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9902952" y="44348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demo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9509760" y="4773168"/>
            <a:ext cx="2203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setup + a Cloudflare Tunnel for a live share link.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279392" y="5212080"/>
            <a:ext cx="7543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4279392" y="5504688"/>
            <a:ext cx="36347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4279392" y="5724144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LangGraph engine with persistent multi-turn state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279392" y="5943600"/>
            <a:ext cx="3634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booking saved to production PostgreSQL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188452" y="5504688"/>
            <a:ext cx="36347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8188452" y="5724144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WhatsApp / Telegram · Qdrant document search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8188452" y="5998464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 Admin dashboard · multi-language · voice · multi-agent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2026-08-06T08:16:29Z</dcterms:created>
  <dcterms:modified xsi:type="dcterms:W3CDTF">2026-08-06T08:16:29Z</dcterms:modified>
</cp:coreProperties>
</file>